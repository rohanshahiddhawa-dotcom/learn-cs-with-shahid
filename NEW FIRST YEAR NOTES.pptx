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54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71" r:id="rId8"/>
    <p:sldId id="262" r:id="rId9"/>
    <p:sldId id="263" r:id="rId10"/>
    <p:sldId id="264" r:id="rId11"/>
    <p:sldId id="265" r:id="rId12"/>
    <p:sldId id="267" r:id="rId13"/>
    <p:sldId id="268" r:id="rId14"/>
    <p:sldId id="269" r:id="rId15"/>
    <p:sldId id="272" r:id="rId16"/>
    <p:sldId id="273" r:id="rId17"/>
    <p:sldId id="274" r:id="rId18"/>
    <p:sldId id="275" r:id="rId19"/>
    <p:sldId id="276" r:id="rId20"/>
    <p:sldId id="277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>
        <p:scale>
          <a:sx n="50" d="100"/>
          <a:sy n="50" d="100"/>
        </p:scale>
        <p:origin x="36" y="5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t>4/28/2026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08753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52739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06071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33466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5196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80964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60811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0574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53345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4/28/2026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46267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4/28/2026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93013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4/28/2026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56763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4/28/2026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15800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4/28/2026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58087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4/28/2026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28492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48A87A34-81AB-432B-8DAE-1953F412C126}" type="datetimeFigureOut">
              <a:rPr lang="en-US" smtClean="0"/>
              <a:t>4/28/2026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691676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48A87A34-81AB-432B-8DAE-1953F412C126}" type="datetimeFigureOut">
              <a:rPr lang="en-US" smtClean="0"/>
              <a:t>4/28/2026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69112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4/28/2026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24894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5" r:id="rId1"/>
    <p:sldLayoutId id="2147483856" r:id="rId2"/>
    <p:sldLayoutId id="2147483857" r:id="rId3"/>
    <p:sldLayoutId id="2147483858" r:id="rId4"/>
    <p:sldLayoutId id="2147483859" r:id="rId5"/>
    <p:sldLayoutId id="2147483860" r:id="rId6"/>
    <p:sldLayoutId id="2147483861" r:id="rId7"/>
    <p:sldLayoutId id="2147483862" r:id="rId8"/>
    <p:sldLayoutId id="2147483863" r:id="rId9"/>
    <p:sldLayoutId id="2147483864" r:id="rId10"/>
    <p:sldLayoutId id="2147483865" r:id="rId11"/>
    <p:sldLayoutId id="2147483866" r:id="rId12"/>
    <p:sldLayoutId id="2147483867" r:id="rId13"/>
    <p:sldLayoutId id="2147483868" r:id="rId14"/>
    <p:sldLayoutId id="2147483869" r:id="rId15"/>
    <p:sldLayoutId id="2147483870" r:id="rId16"/>
    <p:sldLayoutId id="214748387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6250" y="838201"/>
            <a:ext cx="11220450" cy="2209799"/>
          </a:xfrm>
        </p:spPr>
        <p:txBody>
          <a:bodyPr/>
          <a:lstStyle/>
          <a:p>
            <a:pPr algn="ctr">
              <a:lnSpc>
                <a:spcPct val="300000"/>
              </a:lnSpc>
            </a:pPr>
            <a:r>
              <a:rPr lang="en-US" sz="6600" b="1" dirty="0">
                <a:solidFill>
                  <a:srgbClr val="FFFF00"/>
                </a:solidFill>
              </a:rPr>
              <a:t>COMPUTER SCIENCE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50" y="3409950"/>
            <a:ext cx="11220450" cy="1524000"/>
          </a:xfrm>
        </p:spPr>
        <p:txBody>
          <a:bodyPr>
            <a:normAutofit/>
          </a:bodyPr>
          <a:lstStyle/>
          <a:p>
            <a:pPr algn="ctr"/>
            <a:r>
              <a:rPr lang="en-US" sz="6000" b="1" dirty="0" smtClean="0">
                <a:solidFill>
                  <a:srgbClr val="92D050"/>
                </a:solidFill>
              </a:rPr>
              <a:t>1</a:t>
            </a:r>
            <a:r>
              <a:rPr lang="en-US" sz="6000" b="1" baseline="30000" dirty="0" smtClean="0">
                <a:solidFill>
                  <a:srgbClr val="92D050"/>
                </a:solidFill>
              </a:rPr>
              <a:t>ST</a:t>
            </a:r>
            <a:r>
              <a:rPr lang="en-US" sz="6000" b="1" dirty="0" smtClean="0">
                <a:solidFill>
                  <a:srgbClr val="92D050"/>
                </a:solidFill>
              </a:rPr>
              <a:t> YEAR NOTES</a:t>
            </a:r>
            <a:endParaRPr lang="en-US" sz="6000" b="1" dirty="0">
              <a:solidFill>
                <a:srgbClr val="92D05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086475" y="5606534"/>
            <a:ext cx="5269976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400" b="1" dirty="0" smtClean="0">
                <a:solidFill>
                  <a:srgbClr val="FFFF00"/>
                </a:solidFill>
              </a:rPr>
              <a:t>BY: SHAHID ABBAS</a:t>
            </a:r>
            <a:endParaRPr lang="en-US" sz="44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29355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9208246" cy="706964"/>
          </a:xfrm>
        </p:spPr>
        <p:txBody>
          <a:bodyPr/>
          <a:lstStyle/>
          <a:p>
            <a:r>
              <a:rPr lang="en-US" sz="4000" b="1" dirty="0" smtClean="0"/>
              <a:t>Q.1: What is Software Development?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9100" y="2000250"/>
            <a:ext cx="11334750" cy="485775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4400" b="1" dirty="0" smtClean="0">
                <a:solidFill>
                  <a:schemeClr val="accent5">
                    <a:lumMod val="75000"/>
                  </a:schemeClr>
                </a:solidFill>
              </a:rPr>
              <a:t>Answer</a:t>
            </a:r>
            <a:r>
              <a:rPr lang="en-US" sz="4400" b="1" dirty="0" smtClean="0"/>
              <a:t>: </a:t>
            </a:r>
            <a:r>
              <a:rPr lang="en-US" sz="4400" b="1" dirty="0" smtClean="0">
                <a:solidFill>
                  <a:schemeClr val="tx1"/>
                </a:solidFill>
              </a:rPr>
              <a:t>The process of creating or designing computer programs that performs specific tasks. It involves writing code ,testing it and addressing any issue that arise.</a:t>
            </a:r>
          </a:p>
          <a:p>
            <a:pPr marL="0" indent="0">
              <a:buNone/>
            </a:pPr>
            <a:r>
              <a:rPr lang="en-US" sz="4400" b="1" dirty="0" smtClean="0">
                <a:solidFill>
                  <a:schemeClr val="accent5">
                    <a:lumMod val="75000"/>
                  </a:schemeClr>
                </a:solidFill>
              </a:rPr>
              <a:t>Example</a:t>
            </a:r>
            <a:r>
              <a:rPr lang="en-US" sz="4400" b="1" dirty="0" smtClean="0">
                <a:solidFill>
                  <a:schemeClr val="tx1"/>
                </a:solidFill>
              </a:rPr>
              <a:t>: </a:t>
            </a:r>
            <a:r>
              <a:rPr lang="en-US" sz="4000" b="1" dirty="0" smtClean="0">
                <a:solidFill>
                  <a:schemeClr val="tx1"/>
                </a:solidFill>
              </a:rPr>
              <a:t>SDLC is used to develop a software.</a:t>
            </a:r>
            <a:endParaRPr lang="en-US" sz="40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1244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467" y="666750"/>
            <a:ext cx="10810033" cy="1013882"/>
          </a:xfrm>
        </p:spPr>
        <p:txBody>
          <a:bodyPr/>
          <a:lstStyle/>
          <a:p>
            <a:r>
              <a:rPr lang="en-US" b="1" dirty="0" smtClean="0"/>
              <a:t>Q.2: Why software development is  important?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300" y="2381250"/>
            <a:ext cx="11125200" cy="40005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600" b="1" dirty="0" smtClean="0">
                <a:solidFill>
                  <a:schemeClr val="accent5">
                    <a:lumMod val="75000"/>
                  </a:schemeClr>
                </a:solidFill>
              </a:rPr>
              <a:t>Answer</a:t>
            </a:r>
            <a:r>
              <a:rPr lang="en-US" sz="3600" b="1" dirty="0" smtClean="0"/>
              <a:t>: </a:t>
            </a:r>
            <a:r>
              <a:rPr lang="en-US" sz="3600" b="1" dirty="0" smtClean="0">
                <a:solidFill>
                  <a:schemeClr val="tx1"/>
                </a:solidFill>
              </a:rPr>
              <a:t>The software development is important because:</a:t>
            </a:r>
          </a:p>
          <a:p>
            <a:r>
              <a:rPr lang="en-US" sz="3600" b="1" dirty="0" smtClean="0">
                <a:solidFill>
                  <a:schemeClr val="tx1"/>
                </a:solidFill>
              </a:rPr>
              <a:t>It solve real world problems</a:t>
            </a:r>
            <a:r>
              <a:rPr lang="en-US" sz="3600" b="1" dirty="0" smtClean="0"/>
              <a:t>.</a:t>
            </a:r>
          </a:p>
          <a:p>
            <a:r>
              <a:rPr lang="en-US" sz="3600" b="1" dirty="0" smtClean="0">
                <a:solidFill>
                  <a:schemeClr val="tx1"/>
                </a:solidFill>
              </a:rPr>
              <a:t>It improve </a:t>
            </a:r>
            <a:r>
              <a:rPr lang="en-US" sz="3600" b="1" dirty="0" smtClean="0">
                <a:solidFill>
                  <a:srgbClr val="0070C0"/>
                </a:solidFill>
              </a:rPr>
              <a:t>efficiency</a:t>
            </a:r>
            <a:r>
              <a:rPr lang="en-US" sz="3600" b="1" dirty="0" smtClean="0"/>
              <a:t> &amp; </a:t>
            </a:r>
            <a:r>
              <a:rPr lang="en-US" sz="3600" b="1" dirty="0" smtClean="0">
                <a:solidFill>
                  <a:srgbClr val="0070C0"/>
                </a:solidFill>
              </a:rPr>
              <a:t>productivity</a:t>
            </a:r>
            <a:r>
              <a:rPr lang="en-US" sz="3600" b="1" dirty="0" smtClean="0"/>
              <a:t>.</a:t>
            </a:r>
          </a:p>
          <a:p>
            <a:r>
              <a:rPr lang="en-US" sz="3600" b="1" dirty="0" smtClean="0">
                <a:solidFill>
                  <a:schemeClr val="tx1"/>
                </a:solidFill>
              </a:rPr>
              <a:t>It enhance </a:t>
            </a:r>
            <a:r>
              <a:rPr lang="en-US" sz="3600" b="1" dirty="0" smtClean="0">
                <a:solidFill>
                  <a:srgbClr val="0070C0"/>
                </a:solidFill>
              </a:rPr>
              <a:t>communication</a:t>
            </a:r>
            <a:r>
              <a:rPr lang="en-US" sz="3600" b="1" dirty="0" smtClean="0"/>
              <a:t>.</a:t>
            </a:r>
          </a:p>
          <a:p>
            <a:r>
              <a:rPr lang="en-US" sz="3600" b="1" dirty="0" smtClean="0">
                <a:solidFill>
                  <a:schemeClr val="tx1"/>
                </a:solidFill>
              </a:rPr>
              <a:t>It enables digital </a:t>
            </a:r>
            <a:r>
              <a:rPr lang="en-US" sz="3600" b="1" dirty="0" smtClean="0">
                <a:solidFill>
                  <a:srgbClr val="0070C0"/>
                </a:solidFill>
              </a:rPr>
              <a:t>transformation</a:t>
            </a:r>
            <a:r>
              <a:rPr lang="en-US" sz="3600" b="1" dirty="0" smtClean="0"/>
              <a:t>.</a:t>
            </a:r>
            <a:endParaRPr 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37646454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9016" y="704850"/>
            <a:ext cx="10810033" cy="1013882"/>
          </a:xfrm>
        </p:spPr>
        <p:txBody>
          <a:bodyPr/>
          <a:lstStyle/>
          <a:p>
            <a:r>
              <a:rPr lang="en-US" sz="4000" b="1" dirty="0" smtClean="0"/>
              <a:t>Q.3: Define Framework? Give </a:t>
            </a:r>
            <a:r>
              <a:rPr lang="en-US" sz="4400" b="1" dirty="0" smtClean="0"/>
              <a:t>an</a:t>
            </a:r>
            <a:r>
              <a:rPr lang="en-US" sz="4000" b="1" dirty="0" smtClean="0"/>
              <a:t> example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8150" y="2419350"/>
            <a:ext cx="11220450" cy="401955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4000" b="1" dirty="0" smtClean="0">
                <a:solidFill>
                  <a:schemeClr val="accent5">
                    <a:lumMod val="75000"/>
                  </a:schemeClr>
                </a:solidFill>
              </a:rPr>
              <a:t>Answer</a:t>
            </a:r>
            <a:r>
              <a:rPr lang="en-US" sz="4000" b="1" dirty="0" smtClean="0"/>
              <a:t>: </a:t>
            </a:r>
            <a:r>
              <a:rPr lang="en-US" sz="4000" b="1" dirty="0" smtClean="0">
                <a:solidFill>
                  <a:schemeClr val="tx1"/>
                </a:solidFill>
              </a:rPr>
              <a:t>The standardized and reusable set of concepts , practices and tools that provides a structured foundation for developing software</a:t>
            </a:r>
            <a:r>
              <a:rPr lang="en-US" sz="4000" b="1" dirty="0" smtClean="0"/>
              <a:t>.</a:t>
            </a:r>
          </a:p>
          <a:p>
            <a:pPr marL="0" indent="0">
              <a:buNone/>
            </a:pPr>
            <a:r>
              <a:rPr lang="en-US" sz="4000" b="1" dirty="0" smtClean="0">
                <a:solidFill>
                  <a:schemeClr val="accent5">
                    <a:lumMod val="75000"/>
                  </a:schemeClr>
                </a:solidFill>
              </a:rPr>
              <a:t>Example</a:t>
            </a:r>
            <a:r>
              <a:rPr lang="en-US" sz="4000" b="1" dirty="0" smtClean="0"/>
              <a:t>: </a:t>
            </a:r>
            <a:r>
              <a:rPr lang="en-US" sz="4000" b="1" dirty="0" smtClean="0">
                <a:solidFill>
                  <a:schemeClr val="tx1"/>
                </a:solidFill>
              </a:rPr>
              <a:t>The framework </a:t>
            </a:r>
            <a:r>
              <a:rPr lang="en-US" sz="4000" b="1" dirty="0" smtClean="0">
                <a:solidFill>
                  <a:srgbClr val="0070C0"/>
                </a:solidFill>
              </a:rPr>
              <a:t>Django</a:t>
            </a:r>
            <a:r>
              <a:rPr lang="en-US" sz="4000" b="1" dirty="0" smtClean="0"/>
              <a:t> </a:t>
            </a:r>
            <a:r>
              <a:rPr lang="en-US" sz="4000" b="1" dirty="0" smtClean="0">
                <a:solidFill>
                  <a:schemeClr val="tx1"/>
                </a:solidFill>
              </a:rPr>
              <a:t>is used for developing websites</a:t>
            </a:r>
            <a:r>
              <a:rPr lang="en-US" sz="4000" b="1" dirty="0" smtClean="0"/>
              <a:t>.</a:t>
            </a:r>
            <a:endParaRPr lang="en-US" sz="4000" b="1" u="sng" dirty="0" smtClean="0"/>
          </a:p>
        </p:txBody>
      </p:sp>
    </p:spTree>
    <p:extLst>
      <p:ext uri="{BB962C8B-B14F-4D97-AF65-F5344CB8AC3E}">
        <p14:creationId xmlns:p14="http://schemas.microsoft.com/office/powerpoint/2010/main" val="6435384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9016" y="704850"/>
            <a:ext cx="10810033" cy="1013882"/>
          </a:xfrm>
        </p:spPr>
        <p:txBody>
          <a:bodyPr/>
          <a:lstStyle/>
          <a:p>
            <a:r>
              <a:rPr lang="en-US" sz="4000" b="1" dirty="0" smtClean="0"/>
              <a:t>Q.4: Write any four benefits of Framework.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8150" y="2266950"/>
            <a:ext cx="11220450" cy="417195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4000" b="1" dirty="0" smtClean="0">
                <a:solidFill>
                  <a:schemeClr val="accent5">
                    <a:lumMod val="75000"/>
                  </a:schemeClr>
                </a:solidFill>
              </a:rPr>
              <a:t>Answer</a:t>
            </a:r>
            <a:r>
              <a:rPr lang="en-US" sz="4000" b="1" dirty="0" smtClean="0"/>
              <a:t>: </a:t>
            </a:r>
            <a:r>
              <a:rPr lang="en-US" sz="4000" b="1" dirty="0" smtClean="0">
                <a:solidFill>
                  <a:schemeClr val="tx1"/>
                </a:solidFill>
              </a:rPr>
              <a:t>There are four benefits of Framework:</a:t>
            </a:r>
          </a:p>
          <a:p>
            <a:r>
              <a:rPr lang="en-US" sz="4000" b="1" dirty="0" smtClean="0">
                <a:solidFill>
                  <a:schemeClr val="tx1"/>
                </a:solidFill>
              </a:rPr>
              <a:t>Save time </a:t>
            </a:r>
          </a:p>
          <a:p>
            <a:r>
              <a:rPr lang="en-US" sz="4000" b="1" dirty="0" smtClean="0">
                <a:solidFill>
                  <a:schemeClr val="tx1"/>
                </a:solidFill>
              </a:rPr>
              <a:t>Reduce errors and improve quality </a:t>
            </a:r>
          </a:p>
          <a:p>
            <a:r>
              <a:rPr lang="en-US" sz="4000" b="1" dirty="0" smtClean="0">
                <a:solidFill>
                  <a:schemeClr val="tx1"/>
                </a:solidFill>
              </a:rPr>
              <a:t>Ensure Consistency </a:t>
            </a:r>
          </a:p>
          <a:p>
            <a:r>
              <a:rPr lang="en-US" sz="4000" b="1" dirty="0" smtClean="0">
                <a:solidFill>
                  <a:schemeClr val="tx1"/>
                </a:solidFill>
              </a:rPr>
              <a:t>Improve quality and reusability.</a:t>
            </a:r>
          </a:p>
        </p:txBody>
      </p:sp>
    </p:spTree>
    <p:extLst>
      <p:ext uri="{BB962C8B-B14F-4D97-AF65-F5344CB8AC3E}">
        <p14:creationId xmlns:p14="http://schemas.microsoft.com/office/powerpoint/2010/main" val="6363406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9016" y="704850"/>
            <a:ext cx="10810033" cy="1013882"/>
          </a:xfrm>
        </p:spPr>
        <p:txBody>
          <a:bodyPr/>
          <a:lstStyle/>
          <a:p>
            <a:r>
              <a:rPr lang="en-US" sz="4000" b="1" dirty="0" smtClean="0"/>
              <a:t>Q.5: What is SDLC?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8150" y="2266950"/>
            <a:ext cx="11220450" cy="417195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4000" b="1" dirty="0" smtClean="0">
                <a:solidFill>
                  <a:schemeClr val="accent5">
                    <a:lumMod val="75000"/>
                  </a:schemeClr>
                </a:solidFill>
              </a:rPr>
              <a:t>Answer</a:t>
            </a:r>
            <a:r>
              <a:rPr lang="en-US" sz="4000" b="1" dirty="0" smtClean="0"/>
              <a:t>: SDLC stands for </a:t>
            </a:r>
            <a:r>
              <a:rPr lang="en-US" sz="4000" b="1" dirty="0" smtClean="0">
                <a:solidFill>
                  <a:srgbClr val="00B0F0"/>
                </a:solidFill>
              </a:rPr>
              <a:t>software development life cycle </a:t>
            </a:r>
            <a:r>
              <a:rPr lang="en-US" sz="4000" b="1" dirty="0" smtClean="0">
                <a:solidFill>
                  <a:schemeClr val="tx1"/>
                </a:solidFill>
              </a:rPr>
              <a:t>and define as:</a:t>
            </a:r>
          </a:p>
          <a:p>
            <a:pPr marL="0" indent="0">
              <a:buNone/>
            </a:pPr>
            <a:r>
              <a:rPr lang="en-US" sz="4000" b="1" dirty="0" smtClean="0">
                <a:solidFill>
                  <a:schemeClr val="tx1"/>
                </a:solidFill>
              </a:rPr>
              <a:t>SDLC is a framework that explain software development step by step from its initial stage to final stage or from requirement gathering to deployment and maintenance.</a:t>
            </a:r>
          </a:p>
        </p:txBody>
      </p:sp>
    </p:spTree>
    <p:extLst>
      <p:ext uri="{BB962C8B-B14F-4D97-AF65-F5344CB8AC3E}">
        <p14:creationId xmlns:p14="http://schemas.microsoft.com/office/powerpoint/2010/main" val="24104268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9016" y="704850"/>
            <a:ext cx="10810033" cy="1013882"/>
          </a:xfrm>
        </p:spPr>
        <p:txBody>
          <a:bodyPr/>
          <a:lstStyle/>
          <a:p>
            <a:r>
              <a:rPr lang="en-US" sz="4000" b="1" dirty="0" smtClean="0"/>
              <a:t>Q.6: </a:t>
            </a:r>
            <a:r>
              <a:rPr lang="en-US" sz="4000" b="1" dirty="0" smtClean="0"/>
              <a:t>What </a:t>
            </a:r>
            <a:r>
              <a:rPr lang="en-US" sz="4000" b="1" dirty="0" smtClean="0"/>
              <a:t>is the purpose of</a:t>
            </a:r>
            <a:r>
              <a:rPr lang="en-US" sz="4000" b="1" dirty="0" smtClean="0"/>
              <a:t> </a:t>
            </a:r>
            <a:r>
              <a:rPr lang="en-US" sz="4000" b="1" dirty="0" smtClean="0"/>
              <a:t>SDLC?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8150" y="2266950"/>
            <a:ext cx="11220450" cy="417195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4000" b="1" dirty="0" smtClean="0">
                <a:solidFill>
                  <a:schemeClr val="accent5">
                    <a:lumMod val="75000"/>
                  </a:schemeClr>
                </a:solidFill>
              </a:rPr>
              <a:t>Answer</a:t>
            </a:r>
            <a:r>
              <a:rPr lang="en-US" sz="4000" b="1" dirty="0" smtClean="0"/>
              <a:t>: The purposes of SDLC are as:</a:t>
            </a:r>
          </a:p>
          <a:p>
            <a:pPr marL="0" indent="0">
              <a:buNone/>
            </a:pPr>
            <a:r>
              <a:rPr lang="en-US" sz="4000" b="1" dirty="0" smtClean="0"/>
              <a:t> </a:t>
            </a:r>
            <a:r>
              <a:rPr lang="en-US" sz="4000" b="1" dirty="0"/>
              <a:t>T</a:t>
            </a:r>
            <a:r>
              <a:rPr lang="en-US" sz="4000" b="1" dirty="0" smtClean="0"/>
              <a:t>o deliver high quality software that: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4000" b="1" dirty="0" smtClean="0"/>
              <a:t>Meets or exceeds user </a:t>
            </a:r>
            <a:r>
              <a:rPr lang="en-US" sz="4000" b="1" dirty="0" smtClean="0">
                <a:solidFill>
                  <a:srgbClr val="FF0000"/>
                </a:solidFill>
              </a:rPr>
              <a:t>expectations</a:t>
            </a:r>
            <a:r>
              <a:rPr lang="en-US" sz="4000" b="1" dirty="0" smtClean="0"/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4000" b="1" dirty="0" smtClean="0"/>
              <a:t>Is completed within </a:t>
            </a:r>
            <a:r>
              <a:rPr lang="en-US" sz="4000" b="1" dirty="0" smtClean="0">
                <a:solidFill>
                  <a:srgbClr val="FF0000"/>
                </a:solidFill>
              </a:rPr>
              <a:t>time</a:t>
            </a:r>
            <a:r>
              <a:rPr lang="en-US" sz="4000" b="1" dirty="0" smtClean="0"/>
              <a:t> and </a:t>
            </a:r>
            <a:r>
              <a:rPr lang="en-US" sz="4000" b="1" dirty="0" smtClean="0">
                <a:solidFill>
                  <a:srgbClr val="FF0000"/>
                </a:solidFill>
              </a:rPr>
              <a:t>cost</a:t>
            </a:r>
            <a:r>
              <a:rPr lang="en-US" sz="4000" b="1" dirty="0" smtClean="0"/>
              <a:t> limit.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4000" b="1" dirty="0" smtClean="0"/>
              <a:t>Works efficiently and reliably  </a:t>
            </a:r>
            <a:endParaRPr lang="en-US" sz="4000" b="1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1128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9016" y="704850"/>
            <a:ext cx="10810033" cy="1013882"/>
          </a:xfrm>
        </p:spPr>
        <p:txBody>
          <a:bodyPr/>
          <a:lstStyle/>
          <a:p>
            <a:r>
              <a:rPr lang="en-US" sz="4000" b="1" dirty="0" smtClean="0"/>
              <a:t>Q.7: </a:t>
            </a:r>
            <a:r>
              <a:rPr lang="en-US" sz="4000" b="1" dirty="0" smtClean="0"/>
              <a:t>Name the phases of SDLC?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1550" y="3352846"/>
            <a:ext cx="10668000" cy="2857500"/>
          </a:xfrm>
        </p:spPr>
        <p:txBody>
          <a:bodyPr numCol="2">
            <a:noAutofit/>
          </a:bodyPr>
          <a:lstStyle/>
          <a:p>
            <a:r>
              <a:rPr lang="en-US" sz="4000" b="1" dirty="0" smtClean="0">
                <a:solidFill>
                  <a:schemeClr val="tx1"/>
                </a:solidFill>
              </a:rPr>
              <a:t>Requirement</a:t>
            </a:r>
          </a:p>
          <a:p>
            <a:r>
              <a:rPr lang="en-US" sz="4000" b="1" dirty="0" smtClean="0">
                <a:solidFill>
                  <a:schemeClr val="tx1"/>
                </a:solidFill>
              </a:rPr>
              <a:t>Designing                 </a:t>
            </a:r>
          </a:p>
          <a:p>
            <a:r>
              <a:rPr lang="en-US" sz="4000" b="1" dirty="0" smtClean="0">
                <a:solidFill>
                  <a:schemeClr val="tx1"/>
                </a:solidFill>
              </a:rPr>
              <a:t>Coding </a:t>
            </a:r>
          </a:p>
          <a:p>
            <a:r>
              <a:rPr lang="en-US" sz="4000" b="1" dirty="0" smtClean="0">
                <a:solidFill>
                  <a:schemeClr val="tx1"/>
                </a:solidFill>
              </a:rPr>
              <a:t>Testing </a:t>
            </a:r>
          </a:p>
          <a:p>
            <a:r>
              <a:rPr lang="en-US" sz="4000" b="1" dirty="0" smtClean="0">
                <a:solidFill>
                  <a:schemeClr val="tx1"/>
                </a:solidFill>
              </a:rPr>
              <a:t>Deployment </a:t>
            </a:r>
          </a:p>
          <a:p>
            <a:r>
              <a:rPr lang="en-US" sz="4000" b="1" dirty="0" smtClean="0">
                <a:solidFill>
                  <a:schemeClr val="tx1"/>
                </a:solidFill>
              </a:rPr>
              <a:t>Maintenance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487" y="2285954"/>
            <a:ext cx="10492125" cy="1066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33031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9016" y="704850"/>
            <a:ext cx="10810033" cy="1013882"/>
          </a:xfrm>
        </p:spPr>
        <p:txBody>
          <a:bodyPr/>
          <a:lstStyle/>
          <a:p>
            <a:r>
              <a:rPr lang="en-US" sz="4000" b="1" dirty="0" smtClean="0"/>
              <a:t>Q.8: </a:t>
            </a:r>
            <a:r>
              <a:rPr lang="en-US" sz="4000" b="1" dirty="0" smtClean="0"/>
              <a:t>What is Requirement gathering?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1550" y="2457450"/>
            <a:ext cx="10744200" cy="3752896"/>
          </a:xfrm>
        </p:spPr>
        <p:txBody>
          <a:bodyPr numCol="1">
            <a:noAutofit/>
          </a:bodyPr>
          <a:lstStyle/>
          <a:p>
            <a:pPr marL="0" indent="0">
              <a:buNone/>
            </a:pPr>
            <a:r>
              <a:rPr lang="en-US" sz="4000" b="1" dirty="0" smtClean="0">
                <a:solidFill>
                  <a:schemeClr val="accent5">
                    <a:lumMod val="75000"/>
                  </a:schemeClr>
                </a:solidFill>
              </a:rPr>
              <a:t>Answer</a:t>
            </a:r>
            <a:r>
              <a:rPr lang="en-US" sz="4000" b="1" dirty="0" smtClean="0"/>
              <a:t>: </a:t>
            </a:r>
            <a:r>
              <a:rPr lang="en-US" sz="4000" b="1" dirty="0" smtClean="0">
                <a:solidFill>
                  <a:schemeClr val="tx1"/>
                </a:solidFill>
              </a:rPr>
              <a:t>The process of collecting or gathering requirements by developer is called requirement gathering</a:t>
            </a:r>
            <a:r>
              <a:rPr lang="en-US" sz="4000" b="1" dirty="0" smtClean="0"/>
              <a:t>.</a:t>
            </a:r>
          </a:p>
          <a:p>
            <a:pPr marL="0" indent="0">
              <a:buNone/>
            </a:pPr>
            <a:r>
              <a:rPr lang="en-US" sz="4000" b="1" dirty="0" smtClean="0">
                <a:solidFill>
                  <a:srgbClr val="0070C0"/>
                </a:solidFill>
              </a:rPr>
              <a:t>Requirement </a:t>
            </a:r>
            <a:r>
              <a:rPr lang="en-US" sz="4000" b="1" dirty="0" smtClean="0">
                <a:solidFill>
                  <a:srgbClr val="0070C0"/>
                </a:solidFill>
                <a:sym typeface="Wingdings" panose="05000000000000000000" pitchFamily="2" charset="2"/>
              </a:rPr>
              <a:t></a:t>
            </a:r>
            <a:r>
              <a:rPr lang="en-US" sz="4000" b="1" dirty="0" smtClean="0">
                <a:solidFill>
                  <a:schemeClr val="tx1"/>
                </a:solidFill>
                <a:sym typeface="Wingdings" panose="05000000000000000000" pitchFamily="2" charset="2"/>
              </a:rPr>
              <a:t> What the system needs to develop or work?</a:t>
            </a:r>
            <a:endParaRPr lang="en-US" sz="4000" b="1" dirty="0" smtClean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07448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9016" y="704850"/>
            <a:ext cx="10810033" cy="1013882"/>
          </a:xfrm>
        </p:spPr>
        <p:txBody>
          <a:bodyPr/>
          <a:lstStyle/>
          <a:p>
            <a:r>
              <a:rPr lang="en-US" sz="4000" b="1" dirty="0" smtClean="0"/>
              <a:t>Q.9: How to collect </a:t>
            </a:r>
            <a:r>
              <a:rPr lang="en-US" sz="4000" b="1" dirty="0" smtClean="0"/>
              <a:t>Requirement?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1550" y="2286000"/>
            <a:ext cx="10744200" cy="4572000"/>
          </a:xfrm>
        </p:spPr>
        <p:txBody>
          <a:bodyPr numCol="1">
            <a:noAutofit/>
          </a:bodyPr>
          <a:lstStyle/>
          <a:p>
            <a:pPr marL="0" indent="0">
              <a:buNone/>
            </a:pPr>
            <a:r>
              <a:rPr lang="en-US" sz="4000" b="1" dirty="0" smtClean="0">
                <a:solidFill>
                  <a:schemeClr val="accent5">
                    <a:lumMod val="75000"/>
                  </a:schemeClr>
                </a:solidFill>
              </a:rPr>
              <a:t>Answer</a:t>
            </a:r>
            <a:r>
              <a:rPr lang="en-US" sz="4000" b="1" dirty="0" smtClean="0"/>
              <a:t>: </a:t>
            </a:r>
            <a:r>
              <a:rPr lang="en-US" sz="4000" b="1" dirty="0" smtClean="0">
                <a:solidFill>
                  <a:schemeClr val="tx1"/>
                </a:solidFill>
              </a:rPr>
              <a:t>Key activities for collecting requirements are as:</a:t>
            </a:r>
            <a:endParaRPr lang="en-US" sz="4000" b="1" dirty="0">
              <a:solidFill>
                <a:srgbClr val="0070C0"/>
              </a:solidFill>
            </a:endParaRPr>
          </a:p>
          <a:p>
            <a:r>
              <a:rPr lang="en-US" sz="4000" b="1" dirty="0" smtClean="0">
                <a:solidFill>
                  <a:srgbClr val="0070C0"/>
                </a:solidFill>
              </a:rPr>
              <a:t>Interview and </a:t>
            </a:r>
            <a:r>
              <a:rPr lang="en-US" sz="4000" b="1" dirty="0" smtClean="0">
                <a:solidFill>
                  <a:srgbClr val="0070C0"/>
                </a:solidFill>
              </a:rPr>
              <a:t>survey</a:t>
            </a:r>
            <a:endParaRPr lang="en-US" sz="4000" b="1" dirty="0" smtClean="0">
              <a:solidFill>
                <a:srgbClr val="0070C0"/>
              </a:solidFill>
            </a:endParaRPr>
          </a:p>
          <a:p>
            <a:r>
              <a:rPr lang="en-US" sz="4000" b="1" dirty="0" smtClean="0">
                <a:solidFill>
                  <a:srgbClr val="0070C0"/>
                </a:solidFill>
              </a:rPr>
              <a:t>Observation</a:t>
            </a:r>
          </a:p>
          <a:p>
            <a:r>
              <a:rPr lang="en-US" sz="4000" b="1" dirty="0" smtClean="0">
                <a:solidFill>
                  <a:srgbClr val="0070C0"/>
                </a:solidFill>
              </a:rPr>
              <a:t>Experience </a:t>
            </a:r>
          </a:p>
          <a:p>
            <a:r>
              <a:rPr lang="en-US" sz="4000" b="1" dirty="0" smtClean="0">
                <a:solidFill>
                  <a:srgbClr val="0070C0"/>
                </a:solidFill>
              </a:rPr>
              <a:t>Document review </a:t>
            </a:r>
          </a:p>
          <a:p>
            <a:endParaRPr lang="en-US" sz="4000" b="1" dirty="0" smtClean="0"/>
          </a:p>
        </p:txBody>
      </p:sp>
    </p:spTree>
    <p:extLst>
      <p:ext uri="{BB962C8B-B14F-4D97-AF65-F5344CB8AC3E}">
        <p14:creationId xmlns:p14="http://schemas.microsoft.com/office/powerpoint/2010/main" val="20275524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9016" y="704850"/>
            <a:ext cx="10810033" cy="1013882"/>
          </a:xfrm>
        </p:spPr>
        <p:txBody>
          <a:bodyPr/>
          <a:lstStyle/>
          <a:p>
            <a:r>
              <a:rPr lang="en-US" sz="4000" b="1" dirty="0" smtClean="0"/>
              <a:t>Q.10: </a:t>
            </a:r>
            <a:r>
              <a:rPr lang="en-US" sz="4000" b="1" dirty="0" smtClean="0"/>
              <a:t>How many types of Requirement?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1550" y="2286000"/>
            <a:ext cx="10744200" cy="3448050"/>
          </a:xfrm>
        </p:spPr>
        <p:txBody>
          <a:bodyPr numCol="1">
            <a:noAutofit/>
          </a:bodyPr>
          <a:lstStyle/>
          <a:p>
            <a:pPr marL="0" indent="0">
              <a:buNone/>
            </a:pPr>
            <a:r>
              <a:rPr lang="en-US" sz="4000" b="1" dirty="0" smtClean="0">
                <a:solidFill>
                  <a:schemeClr val="accent5">
                    <a:lumMod val="75000"/>
                  </a:schemeClr>
                </a:solidFill>
              </a:rPr>
              <a:t>Answer</a:t>
            </a:r>
            <a:r>
              <a:rPr lang="en-US" sz="4000" b="1" dirty="0" smtClean="0"/>
              <a:t>: </a:t>
            </a:r>
            <a:r>
              <a:rPr lang="en-US" sz="4000" b="1" dirty="0" smtClean="0">
                <a:solidFill>
                  <a:schemeClr val="tx1"/>
                </a:solidFill>
              </a:rPr>
              <a:t>	There two types of requirements are as:</a:t>
            </a:r>
            <a:endParaRPr lang="en-US" sz="4000" b="1" dirty="0">
              <a:solidFill>
                <a:srgbClr val="0070C0"/>
              </a:solidFill>
            </a:endParaRPr>
          </a:p>
          <a:p>
            <a:r>
              <a:rPr lang="en-US" sz="4000" b="1" dirty="0" smtClean="0">
                <a:solidFill>
                  <a:srgbClr val="0070C0"/>
                </a:solidFill>
              </a:rPr>
              <a:t>Functional Requirements</a:t>
            </a:r>
          </a:p>
          <a:p>
            <a:r>
              <a:rPr lang="en-US" sz="4000" b="1" dirty="0" smtClean="0">
                <a:solidFill>
                  <a:srgbClr val="0070C0"/>
                </a:solidFill>
              </a:rPr>
              <a:t>Non-Functional Requirements </a:t>
            </a:r>
          </a:p>
          <a:p>
            <a:endParaRPr lang="en-US" sz="4000" b="1" dirty="0" smtClean="0"/>
          </a:p>
        </p:txBody>
      </p:sp>
    </p:spTree>
    <p:extLst>
      <p:ext uri="{BB962C8B-B14F-4D97-AF65-F5344CB8AC3E}">
        <p14:creationId xmlns:p14="http://schemas.microsoft.com/office/powerpoint/2010/main" val="29813895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Q.11: </a:t>
            </a:r>
            <a:r>
              <a:rPr lang="en-US" b="1" dirty="0"/>
              <a:t>Differentiate b/w Functional and Non-Functional Requirements?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228850"/>
            <a:ext cx="4825157" cy="571500"/>
          </a:xfrm>
        </p:spPr>
        <p:txBody>
          <a:bodyPr/>
          <a:lstStyle/>
          <a:p>
            <a:r>
              <a:rPr lang="en-US" sz="2800" b="1" dirty="0" smtClean="0"/>
              <a:t>Functional Requirements </a:t>
            </a:r>
            <a:endParaRPr lang="en-US" sz="2800" b="1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350" y="2800350"/>
            <a:ext cx="5465762" cy="3219451"/>
          </a:xfrm>
        </p:spPr>
        <p:txBody>
          <a:bodyPr>
            <a:noAutofit/>
          </a:bodyPr>
          <a:lstStyle/>
          <a:p>
            <a:r>
              <a:rPr lang="en-US" b="1" dirty="0" smtClean="0"/>
              <a:t>What the system should do?</a:t>
            </a:r>
          </a:p>
          <a:p>
            <a:r>
              <a:rPr lang="en-US" b="1" dirty="0" smtClean="0"/>
              <a:t>It is related to behavior and tasks of the system.</a:t>
            </a:r>
          </a:p>
          <a:p>
            <a:r>
              <a:rPr lang="en-US" b="1" dirty="0" smtClean="0"/>
              <a:t>It focus on user interactions and systems operations.</a:t>
            </a:r>
          </a:p>
          <a:p>
            <a:r>
              <a:rPr lang="en-US" b="1" dirty="0" smtClean="0"/>
              <a:t>Example: LMS </a:t>
            </a:r>
          </a:p>
          <a:p>
            <a:r>
              <a:rPr lang="en-US" b="1" dirty="0" smtClean="0"/>
              <a:t>User registration</a:t>
            </a:r>
          </a:p>
          <a:p>
            <a:r>
              <a:rPr lang="en-US" b="1" dirty="0" smtClean="0"/>
              <a:t>Book borrowing </a:t>
            </a:r>
          </a:p>
          <a:p>
            <a:r>
              <a:rPr lang="en-US" b="1" dirty="0" smtClean="0"/>
              <a:t>Inventory management </a:t>
            </a:r>
            <a:endParaRPr lang="en-US" b="1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362200"/>
            <a:ext cx="5392738" cy="438150"/>
          </a:xfrm>
        </p:spPr>
        <p:txBody>
          <a:bodyPr/>
          <a:lstStyle/>
          <a:p>
            <a:r>
              <a:rPr lang="en-US" sz="2800" b="1" dirty="0" smtClean="0"/>
              <a:t>Non-Functional Requirements</a:t>
            </a:r>
            <a:endParaRPr lang="en-US" sz="2800" b="1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2800350"/>
            <a:ext cx="5240338" cy="3657600"/>
          </a:xfrm>
        </p:spPr>
        <p:txBody>
          <a:bodyPr>
            <a:noAutofit/>
          </a:bodyPr>
          <a:lstStyle/>
          <a:p>
            <a:r>
              <a:rPr lang="en-US" b="1" dirty="0" smtClean="0"/>
              <a:t>How the system should perform?</a:t>
            </a:r>
          </a:p>
          <a:p>
            <a:r>
              <a:rPr lang="en-US" b="1" dirty="0" smtClean="0"/>
              <a:t>It is related to quality attributes of the system.</a:t>
            </a:r>
          </a:p>
          <a:p>
            <a:r>
              <a:rPr lang="en-US" b="1" dirty="0" smtClean="0"/>
              <a:t>It focus on efficiency and performance of the system.</a:t>
            </a:r>
          </a:p>
          <a:p>
            <a:r>
              <a:rPr lang="en-US" b="1" dirty="0" smtClean="0"/>
              <a:t>Example  LMS</a:t>
            </a:r>
          </a:p>
          <a:p>
            <a:r>
              <a:rPr lang="en-US" b="1" dirty="0" smtClean="0"/>
              <a:t>Reusability </a:t>
            </a:r>
          </a:p>
          <a:p>
            <a:r>
              <a:rPr lang="en-US" b="1" dirty="0" smtClean="0"/>
              <a:t>Reliability </a:t>
            </a:r>
          </a:p>
          <a:p>
            <a:r>
              <a:rPr lang="en-US" b="1" dirty="0" smtClean="0"/>
              <a:t>Security 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1746141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76250"/>
            <a:ext cx="10522696" cy="1524000"/>
          </a:xfrm>
        </p:spPr>
        <p:txBody>
          <a:bodyPr/>
          <a:lstStyle/>
          <a:p>
            <a:r>
              <a:rPr lang="en-US" sz="4000" b="1" dirty="0" smtClean="0"/>
              <a:t>Q.12: </a:t>
            </a:r>
            <a:r>
              <a:rPr lang="en-US" sz="4000" b="1" dirty="0" smtClean="0"/>
              <a:t>What is a </a:t>
            </a:r>
            <a:r>
              <a:rPr lang="en-US" sz="4400" b="1" dirty="0" smtClean="0"/>
              <a:t>stakeholder</a:t>
            </a:r>
            <a:r>
              <a:rPr lang="en-US" sz="4000" b="1" dirty="0" smtClean="0"/>
              <a:t>?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b="1" dirty="0" smtClean="0">
                <a:solidFill>
                  <a:schemeClr val="accent5">
                    <a:lumMod val="75000"/>
                  </a:schemeClr>
                </a:solidFill>
              </a:rPr>
              <a:t>Answer: </a:t>
            </a:r>
            <a:r>
              <a:rPr lang="en-US" sz="4000" b="1" dirty="0" smtClean="0">
                <a:solidFill>
                  <a:schemeClr val="tx1"/>
                </a:solidFill>
              </a:rPr>
              <a:t>A stakeholder is any person or group who is affected by system directly or indirectly. They can be within the organization or outside of organization.</a:t>
            </a:r>
            <a:endParaRPr lang="en-US" sz="40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56480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76250"/>
            <a:ext cx="10522696" cy="1524000"/>
          </a:xfrm>
        </p:spPr>
        <p:txBody>
          <a:bodyPr/>
          <a:lstStyle/>
          <a:p>
            <a:r>
              <a:rPr lang="en-US" sz="4000" b="1" dirty="0" smtClean="0"/>
              <a:t>Q.13: </a:t>
            </a:r>
            <a:r>
              <a:rPr lang="en-US" sz="4000" b="1" dirty="0"/>
              <a:t>Enlist some important stakeholders</a:t>
            </a:r>
            <a:r>
              <a:rPr lang="en-US" sz="4000" b="1" dirty="0" smtClean="0"/>
              <a:t>?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" y="2266950"/>
            <a:ext cx="10953750" cy="459105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4000" b="1" dirty="0" smtClean="0">
                <a:solidFill>
                  <a:schemeClr val="accent5">
                    <a:lumMod val="75000"/>
                  </a:schemeClr>
                </a:solidFill>
              </a:rPr>
              <a:t>Answer: </a:t>
            </a:r>
            <a:r>
              <a:rPr lang="en-US" sz="4000" b="1" dirty="0" smtClean="0">
                <a:solidFill>
                  <a:schemeClr val="tx1"/>
                </a:solidFill>
              </a:rPr>
              <a:t>Important stakeholders are as: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4000" b="1" dirty="0" smtClean="0">
                <a:solidFill>
                  <a:schemeClr val="accent5">
                    <a:lumMod val="75000"/>
                  </a:schemeClr>
                </a:solidFill>
              </a:rPr>
              <a:t>End user </a:t>
            </a:r>
            <a:r>
              <a:rPr lang="en-US" sz="4000" b="1" dirty="0" smtClean="0">
                <a:solidFill>
                  <a:schemeClr val="tx1"/>
                </a:solidFill>
                <a:sym typeface="Wingdings" panose="05000000000000000000" pitchFamily="2" charset="2"/>
              </a:rPr>
              <a:t> who actually use the software?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4000" b="1" dirty="0" smtClean="0">
                <a:solidFill>
                  <a:schemeClr val="accent5">
                    <a:lumMod val="75000"/>
                  </a:schemeClr>
                </a:solidFill>
                <a:sym typeface="Wingdings" panose="05000000000000000000" pitchFamily="2" charset="2"/>
              </a:rPr>
              <a:t>Client</a:t>
            </a:r>
            <a:r>
              <a:rPr lang="en-US" sz="4000" b="1" dirty="0" smtClean="0">
                <a:solidFill>
                  <a:schemeClr val="tx1"/>
                </a:solidFill>
                <a:sym typeface="Wingdings" panose="05000000000000000000" pitchFamily="2" charset="2"/>
              </a:rPr>
              <a:t>  who buy or purchase the software?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4000" b="1" dirty="0" smtClean="0">
                <a:solidFill>
                  <a:schemeClr val="tx1"/>
                </a:solidFill>
                <a:sym typeface="Wingdings" panose="05000000000000000000" pitchFamily="2" charset="2"/>
              </a:rPr>
              <a:t> </a:t>
            </a:r>
            <a:r>
              <a:rPr lang="en-US" sz="4000" b="1" dirty="0" smtClean="0">
                <a:solidFill>
                  <a:schemeClr val="accent5">
                    <a:lumMod val="75000"/>
                  </a:schemeClr>
                </a:solidFill>
                <a:sym typeface="Wingdings" panose="05000000000000000000" pitchFamily="2" charset="2"/>
              </a:rPr>
              <a:t>Project Manager </a:t>
            </a:r>
            <a:r>
              <a:rPr lang="en-US" sz="4000" b="1" dirty="0" smtClean="0">
                <a:solidFill>
                  <a:schemeClr val="tx1"/>
                </a:solidFill>
                <a:sym typeface="Wingdings" panose="05000000000000000000" pitchFamily="2" charset="2"/>
              </a:rPr>
              <a:t> Who manage the software?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4000" b="1" dirty="0" smtClean="0">
                <a:solidFill>
                  <a:schemeClr val="accent5">
                    <a:lumMod val="75000"/>
                  </a:schemeClr>
                </a:solidFill>
                <a:sym typeface="Wingdings" panose="05000000000000000000" pitchFamily="2" charset="2"/>
              </a:rPr>
              <a:t>Developers</a:t>
            </a:r>
            <a:r>
              <a:rPr lang="en-US" sz="4000" b="1" dirty="0" smtClean="0">
                <a:solidFill>
                  <a:schemeClr val="tx1"/>
                </a:solidFill>
                <a:sym typeface="Wingdings" panose="05000000000000000000" pitchFamily="2" charset="2"/>
              </a:rPr>
              <a:t>  Who develops the software?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4000" b="1" dirty="0" smtClean="0">
                <a:solidFill>
                  <a:schemeClr val="accent5">
                    <a:lumMod val="75000"/>
                  </a:schemeClr>
                </a:solidFill>
                <a:sym typeface="Wingdings" panose="05000000000000000000" pitchFamily="2" charset="2"/>
              </a:rPr>
              <a:t>Business Analysts </a:t>
            </a:r>
            <a:r>
              <a:rPr lang="en-US" sz="4000" b="1" dirty="0" smtClean="0">
                <a:solidFill>
                  <a:schemeClr val="tx1"/>
                </a:solidFill>
                <a:sym typeface="Wingdings" panose="05000000000000000000" pitchFamily="2" charset="2"/>
              </a:rPr>
              <a:t> Who take care the software and its needs? 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4000" b="1" dirty="0" smtClean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sz="40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70769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76250"/>
            <a:ext cx="10522696" cy="1524000"/>
          </a:xfrm>
        </p:spPr>
        <p:txBody>
          <a:bodyPr/>
          <a:lstStyle/>
          <a:p>
            <a:r>
              <a:rPr lang="en-US" sz="4000" b="1" dirty="0" smtClean="0"/>
              <a:t>Q.14:Explain the design phase in SDLC?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" y="2387601"/>
            <a:ext cx="11106150" cy="44704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4400" b="1" dirty="0" smtClean="0">
                <a:solidFill>
                  <a:schemeClr val="accent5">
                    <a:lumMod val="75000"/>
                  </a:schemeClr>
                </a:solidFill>
              </a:rPr>
              <a:t>Answer: </a:t>
            </a:r>
            <a:r>
              <a:rPr lang="en-US" sz="4400" b="1" dirty="0" smtClean="0">
                <a:solidFill>
                  <a:schemeClr val="tx1"/>
                </a:solidFill>
              </a:rPr>
              <a:t>This is the 2</a:t>
            </a:r>
            <a:r>
              <a:rPr lang="en-US" sz="4400" b="1" baseline="30000" dirty="0" smtClean="0">
                <a:solidFill>
                  <a:schemeClr val="tx1"/>
                </a:solidFill>
              </a:rPr>
              <a:t>nd</a:t>
            </a:r>
            <a:r>
              <a:rPr lang="en-US" sz="4400" b="1" dirty="0" smtClean="0">
                <a:solidFill>
                  <a:schemeClr val="tx1"/>
                </a:solidFill>
              </a:rPr>
              <a:t> phase of SDLC. In this phase a plan is made for:</a:t>
            </a:r>
          </a:p>
          <a:p>
            <a:r>
              <a:rPr lang="en-US" sz="4400" b="1" dirty="0" smtClean="0">
                <a:solidFill>
                  <a:schemeClr val="tx1"/>
                </a:solidFill>
              </a:rPr>
              <a:t>How the software will looks?</a:t>
            </a:r>
          </a:p>
          <a:p>
            <a:r>
              <a:rPr lang="en-US" sz="4400" b="1" dirty="0" smtClean="0">
                <a:solidFill>
                  <a:schemeClr val="tx1"/>
                </a:solidFill>
              </a:rPr>
              <a:t>How the software will works?</a:t>
            </a:r>
          </a:p>
          <a:p>
            <a:r>
              <a:rPr lang="en-US" sz="4400" b="1" dirty="0" smtClean="0">
                <a:solidFill>
                  <a:schemeClr val="tx1"/>
                </a:solidFill>
              </a:rPr>
              <a:t>Key Activities in Design Phase are:</a:t>
            </a:r>
          </a:p>
        </p:txBody>
      </p:sp>
    </p:spTree>
    <p:extLst>
      <p:ext uri="{BB962C8B-B14F-4D97-AF65-F5344CB8AC3E}">
        <p14:creationId xmlns:p14="http://schemas.microsoft.com/office/powerpoint/2010/main" val="41472674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500" y="476250"/>
            <a:ext cx="11106150" cy="1524000"/>
          </a:xfrm>
        </p:spPr>
        <p:txBody>
          <a:bodyPr/>
          <a:lstStyle/>
          <a:p>
            <a:r>
              <a:rPr lang="en-US" sz="4000" b="1" dirty="0" smtClean="0"/>
              <a:t>Q.15:Explain the key activities in designing?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" y="2261937"/>
            <a:ext cx="11106150" cy="46214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</a:rPr>
              <a:t>1. </a:t>
            </a:r>
            <a:r>
              <a:rPr lang="en-US" sz="2400" b="1" u="sng" dirty="0">
                <a:solidFill>
                  <a:schemeClr val="accent5">
                    <a:lumMod val="75000"/>
                  </a:schemeClr>
                </a:solidFill>
              </a:rPr>
              <a:t>Create diagram</a:t>
            </a:r>
            <a:r>
              <a:rPr lang="en-US" sz="2400" b="1" dirty="0">
                <a:solidFill>
                  <a:schemeClr val="tx1"/>
                </a:solidFill>
              </a:rPr>
              <a:t>: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</a:rPr>
              <a:t> 		To explain the connection between components and how they works together in the system?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</a:rPr>
              <a:t>2. </a:t>
            </a:r>
            <a:r>
              <a:rPr lang="en-US" sz="2400" b="1" u="sng" dirty="0">
                <a:solidFill>
                  <a:schemeClr val="accent5">
                    <a:lumMod val="75000"/>
                  </a:schemeClr>
                </a:solidFill>
              </a:rPr>
              <a:t>Develop a Model</a:t>
            </a:r>
            <a:r>
              <a:rPr lang="en-US" sz="2400" b="1" dirty="0">
                <a:solidFill>
                  <a:schemeClr val="tx1"/>
                </a:solidFill>
              </a:rPr>
              <a:t>: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</a:rPr>
              <a:t>			To defines the structure and features of the system.</a:t>
            </a:r>
          </a:p>
          <a:p>
            <a:pPr marL="0" indent="0">
              <a:buNone/>
            </a:pPr>
            <a:r>
              <a:rPr lang="en-US" sz="2400" b="1" dirty="0" smtClean="0">
                <a:solidFill>
                  <a:schemeClr val="tx1"/>
                </a:solidFill>
              </a:rPr>
              <a:t>3. </a:t>
            </a:r>
            <a:r>
              <a:rPr lang="en-US" sz="2400" b="1" u="sng" dirty="0" smtClean="0">
                <a:solidFill>
                  <a:schemeClr val="accent5">
                    <a:lumMod val="75000"/>
                  </a:schemeClr>
                </a:solidFill>
              </a:rPr>
              <a:t>Plan the Architecture</a:t>
            </a:r>
            <a:r>
              <a:rPr lang="en-US" sz="2400" b="1" dirty="0" smtClean="0">
                <a:solidFill>
                  <a:schemeClr val="tx1"/>
                </a:solidFill>
              </a:rPr>
              <a:t>: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</a:rPr>
              <a:t>	</a:t>
            </a:r>
            <a:r>
              <a:rPr lang="en-US" sz="2400" b="1" dirty="0" smtClean="0">
                <a:solidFill>
                  <a:schemeClr val="tx1"/>
                </a:solidFill>
              </a:rPr>
              <a:t>		To defines overall functionality and behavior of the system.</a:t>
            </a:r>
          </a:p>
          <a:p>
            <a:pPr marL="0" indent="0">
              <a:buNone/>
            </a:pPr>
            <a:r>
              <a:rPr lang="en-US" sz="2400" b="1" dirty="0" smtClean="0">
                <a:solidFill>
                  <a:schemeClr val="tx1"/>
                </a:solidFill>
              </a:rPr>
              <a:t>4. </a:t>
            </a:r>
            <a:r>
              <a:rPr lang="en-US" sz="2400" b="1" u="sng" dirty="0" smtClean="0">
                <a:solidFill>
                  <a:schemeClr val="accent5">
                    <a:lumMod val="75000"/>
                  </a:schemeClr>
                </a:solidFill>
              </a:rPr>
              <a:t>Specify Requirement</a:t>
            </a:r>
            <a:r>
              <a:rPr lang="en-US" sz="2400" b="1" dirty="0" smtClean="0">
                <a:solidFill>
                  <a:schemeClr val="tx1"/>
                </a:solidFill>
              </a:rPr>
              <a:t>: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</a:rPr>
              <a:t>	</a:t>
            </a:r>
            <a:r>
              <a:rPr lang="en-US" sz="2400" b="1" dirty="0" smtClean="0">
                <a:solidFill>
                  <a:schemeClr val="tx1"/>
                </a:solidFill>
              </a:rPr>
              <a:t>		To assign a unique task to each </a:t>
            </a:r>
            <a:r>
              <a:rPr lang="en-US" sz="2400" b="1" dirty="0" err="1" smtClean="0">
                <a:solidFill>
                  <a:schemeClr val="tx1"/>
                </a:solidFill>
              </a:rPr>
              <a:t>compoenet</a:t>
            </a:r>
            <a:r>
              <a:rPr lang="en-US" sz="2400" b="1" dirty="0" smtClean="0">
                <a:solidFill>
                  <a:schemeClr val="tx1"/>
                </a:solidFill>
              </a:rPr>
              <a:t> of the system.</a:t>
            </a:r>
          </a:p>
        </p:txBody>
      </p:sp>
    </p:spTree>
    <p:extLst>
      <p:ext uri="{BB962C8B-B14F-4D97-AF65-F5344CB8AC3E}">
        <p14:creationId xmlns:p14="http://schemas.microsoft.com/office/powerpoint/2010/main" val="23896619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76250"/>
            <a:ext cx="10522696" cy="1524000"/>
          </a:xfrm>
        </p:spPr>
        <p:txBody>
          <a:bodyPr/>
          <a:lstStyle/>
          <a:p>
            <a:r>
              <a:rPr lang="en-US" sz="4000" b="1" dirty="0" smtClean="0"/>
              <a:t>Q.16:Explain the coding phase in SDLC?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" y="2501899"/>
            <a:ext cx="11106150" cy="438150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5">
                    <a:lumMod val="75000"/>
                  </a:schemeClr>
                </a:solidFill>
              </a:rPr>
              <a:t>Answer</a:t>
            </a:r>
            <a:r>
              <a:rPr lang="en-US" sz="3600" b="1" dirty="0" smtClean="0">
                <a:solidFill>
                  <a:schemeClr val="accent5">
                    <a:lumMod val="75000"/>
                  </a:schemeClr>
                </a:solidFill>
              </a:rPr>
              <a:t>: </a:t>
            </a:r>
            <a:r>
              <a:rPr lang="en-US" sz="3600" b="1" dirty="0" smtClean="0">
                <a:solidFill>
                  <a:schemeClr val="tx1"/>
                </a:solidFill>
              </a:rPr>
              <a:t>After the designing a system,</a:t>
            </a:r>
          </a:p>
          <a:p>
            <a:pPr marL="0" indent="0">
              <a:buNone/>
            </a:pPr>
            <a:r>
              <a:rPr lang="en-US" sz="3600" b="1" dirty="0" smtClean="0">
                <a:solidFill>
                  <a:schemeClr val="tx1"/>
                </a:solidFill>
              </a:rPr>
              <a:t>The code is written by programmer by using programming languages is called </a:t>
            </a:r>
            <a:r>
              <a:rPr lang="en-US" sz="3600" b="1" dirty="0" smtClean="0">
                <a:solidFill>
                  <a:schemeClr val="accent5">
                    <a:lumMod val="75000"/>
                  </a:schemeClr>
                </a:solidFill>
              </a:rPr>
              <a:t>source code. </a:t>
            </a:r>
            <a:r>
              <a:rPr lang="en-US" sz="3600" b="1" dirty="0" smtClean="0">
                <a:solidFill>
                  <a:schemeClr val="tx1"/>
                </a:solidFill>
              </a:rPr>
              <a:t>The source code is converted by translator into machine code for further processing.</a:t>
            </a:r>
          </a:p>
          <a:p>
            <a:pPr marL="0" indent="0">
              <a:buNone/>
            </a:pPr>
            <a:r>
              <a:rPr lang="en-US" sz="3600" b="1" dirty="0" smtClean="0">
                <a:solidFill>
                  <a:schemeClr val="accent5">
                    <a:lumMod val="75000"/>
                  </a:schemeClr>
                </a:solidFill>
              </a:rPr>
              <a:t>Programming Languages </a:t>
            </a:r>
            <a:r>
              <a:rPr lang="en-US" sz="3600" b="1" dirty="0" smtClean="0">
                <a:solidFill>
                  <a:schemeClr val="tx1"/>
                </a:solidFill>
              </a:rPr>
              <a:t>are used in coding are:</a:t>
            </a:r>
          </a:p>
          <a:p>
            <a:r>
              <a:rPr lang="en-US" sz="3600" b="1" dirty="0" smtClean="0">
                <a:solidFill>
                  <a:schemeClr val="tx1"/>
                </a:solidFill>
              </a:rPr>
              <a:t>Java, Python , C++ </a:t>
            </a:r>
            <a:r>
              <a:rPr lang="en-US" sz="3600" b="1" dirty="0" err="1" smtClean="0">
                <a:solidFill>
                  <a:schemeClr val="tx1"/>
                </a:solidFill>
              </a:rPr>
              <a:t>etc</a:t>
            </a:r>
            <a:r>
              <a:rPr lang="en-US" sz="3600" b="1" dirty="0" smtClean="0">
                <a:solidFill>
                  <a:schemeClr val="tx1"/>
                </a:solidFill>
              </a:rPr>
              <a:t> </a:t>
            </a:r>
            <a:r>
              <a:rPr lang="en-US" sz="3600" b="1" dirty="0" smtClean="0">
                <a:solidFill>
                  <a:schemeClr val="accent5">
                    <a:lumMod val="75000"/>
                  </a:schemeClr>
                </a:solidFill>
              </a:rPr>
              <a:t> </a:t>
            </a:r>
            <a:endParaRPr lang="en-US" sz="3600" b="1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03815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76250"/>
            <a:ext cx="10522696" cy="1524000"/>
          </a:xfrm>
        </p:spPr>
        <p:txBody>
          <a:bodyPr/>
          <a:lstStyle/>
          <a:p>
            <a:r>
              <a:rPr lang="en-US" sz="4000" b="1" dirty="0" smtClean="0"/>
              <a:t>Q.17:Explain the Key Activities in coding?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" y="2501899"/>
            <a:ext cx="11106150" cy="438150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5">
                    <a:lumMod val="75000"/>
                  </a:schemeClr>
                </a:solidFill>
              </a:rPr>
              <a:t>Answer</a:t>
            </a:r>
            <a:r>
              <a:rPr lang="en-US" sz="3600" b="1" dirty="0" smtClean="0">
                <a:solidFill>
                  <a:schemeClr val="accent5">
                    <a:lumMod val="75000"/>
                  </a:schemeClr>
                </a:solidFill>
              </a:rPr>
              <a:t>: </a:t>
            </a:r>
            <a:r>
              <a:rPr lang="en-US" sz="3600" b="1" dirty="0" smtClean="0">
                <a:solidFill>
                  <a:schemeClr val="tx1"/>
                </a:solidFill>
              </a:rPr>
              <a:t>Key activities of coding are: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600" b="1" dirty="0" smtClean="0">
                <a:solidFill>
                  <a:schemeClr val="tx1"/>
                </a:solidFill>
              </a:rPr>
              <a:t>Write code based on designing.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600" b="1" dirty="0" smtClean="0">
                <a:solidFill>
                  <a:schemeClr val="tx1"/>
                </a:solidFill>
              </a:rPr>
              <a:t>Ensure the working of each component of system according to the Plan.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600" b="1" dirty="0" smtClean="0">
                <a:solidFill>
                  <a:schemeClr val="tx1"/>
                </a:solidFill>
              </a:rPr>
              <a:t>Debugging the code during development.</a:t>
            </a:r>
          </a:p>
          <a:p>
            <a:pPr marL="0" indent="0">
              <a:buNone/>
            </a:pPr>
            <a:r>
              <a:rPr lang="en-US" sz="3600" b="1" dirty="0" smtClean="0">
                <a:solidFill>
                  <a:schemeClr val="tx1"/>
                </a:solidFill>
                <a:sym typeface="Wingdings" panose="05000000000000000000" pitchFamily="2" charset="2"/>
              </a:rPr>
              <a:t>      </a:t>
            </a:r>
            <a:r>
              <a:rPr lang="en-US" sz="3600" b="1" dirty="0" smtClean="0">
                <a:solidFill>
                  <a:schemeClr val="tx1"/>
                </a:solidFill>
              </a:rPr>
              <a:t>Debugging means to find and fix errors.</a:t>
            </a:r>
          </a:p>
        </p:txBody>
      </p:sp>
    </p:spTree>
    <p:extLst>
      <p:ext uri="{BB962C8B-B14F-4D97-AF65-F5344CB8AC3E}">
        <p14:creationId xmlns:p14="http://schemas.microsoft.com/office/powerpoint/2010/main" val="8681000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76250"/>
            <a:ext cx="10522696" cy="1524000"/>
          </a:xfrm>
        </p:spPr>
        <p:txBody>
          <a:bodyPr/>
          <a:lstStyle/>
          <a:p>
            <a:r>
              <a:rPr lang="en-US" sz="4000" b="1" dirty="0" smtClean="0"/>
              <a:t>Q.18:Explain th</a:t>
            </a:r>
            <a:r>
              <a:rPr lang="en-US" sz="4000" b="1" dirty="0" smtClean="0"/>
              <a:t>e Testing in SDLC</a:t>
            </a:r>
            <a:r>
              <a:rPr lang="en-US" sz="4000" b="1" dirty="0" smtClean="0"/>
              <a:t>?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" y="2419349"/>
            <a:ext cx="11106150" cy="446405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5">
                    <a:lumMod val="75000"/>
                  </a:schemeClr>
                </a:solidFill>
              </a:rPr>
              <a:t>Answer</a:t>
            </a:r>
            <a:r>
              <a:rPr lang="en-US" sz="3200" b="1" dirty="0" smtClean="0">
                <a:solidFill>
                  <a:schemeClr val="accent5">
                    <a:lumMod val="75000"/>
                  </a:schemeClr>
                </a:solidFill>
              </a:rPr>
              <a:t>: </a:t>
            </a:r>
            <a:r>
              <a:rPr lang="en-US" sz="3200" b="1" dirty="0" smtClean="0">
                <a:solidFill>
                  <a:schemeClr val="tx1"/>
                </a:solidFill>
              </a:rPr>
              <a:t>After the software developed , it then tested. The testing phase in an important step in SDLC because it checks whether the software works correctly , fulfil the requirements and error free.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200" b="1" u="sng" dirty="0" smtClean="0">
                <a:solidFill>
                  <a:schemeClr val="accent5">
                    <a:lumMod val="75000"/>
                  </a:schemeClr>
                </a:solidFill>
              </a:rPr>
              <a:t>Advantages of Testing</a:t>
            </a:r>
            <a:r>
              <a:rPr lang="en-US" sz="3200" b="1" u="sng" dirty="0" smtClean="0">
                <a:solidFill>
                  <a:schemeClr val="tx1"/>
                </a:solidFill>
              </a:rPr>
              <a:t>:</a:t>
            </a:r>
          </a:p>
          <a:p>
            <a:pPr marL="0" indent="0">
              <a:buNone/>
            </a:pPr>
            <a:r>
              <a:rPr lang="en-US" sz="3200" b="1" dirty="0" smtClean="0">
                <a:solidFill>
                  <a:schemeClr val="tx1"/>
                </a:solidFill>
              </a:rPr>
              <a:t>Testing improve the overall quality , performance and reliability of the software.</a:t>
            </a:r>
          </a:p>
        </p:txBody>
      </p:sp>
    </p:spTree>
    <p:extLst>
      <p:ext uri="{BB962C8B-B14F-4D97-AF65-F5344CB8AC3E}">
        <p14:creationId xmlns:p14="http://schemas.microsoft.com/office/powerpoint/2010/main" val="10916618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476250"/>
            <a:ext cx="10439400" cy="1524000"/>
          </a:xfrm>
        </p:spPr>
        <p:txBody>
          <a:bodyPr/>
          <a:lstStyle/>
          <a:p>
            <a:r>
              <a:rPr lang="en-US" sz="4000" b="1" dirty="0" smtClean="0"/>
              <a:t>Q.19:Explain th</a:t>
            </a:r>
            <a:r>
              <a:rPr lang="en-US" sz="4000" b="1" dirty="0" smtClean="0"/>
              <a:t>e types of Testing in SDLC</a:t>
            </a:r>
            <a:r>
              <a:rPr lang="en-US" sz="4000" b="1" dirty="0" smtClean="0"/>
              <a:t>?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" y="2133600"/>
            <a:ext cx="11620500" cy="474980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5">
                    <a:lumMod val="75000"/>
                  </a:schemeClr>
                </a:solidFill>
              </a:rPr>
              <a:t>Answer</a:t>
            </a:r>
            <a:r>
              <a:rPr lang="en-US" sz="3600" b="1" dirty="0" smtClean="0">
                <a:solidFill>
                  <a:schemeClr val="accent5">
                    <a:lumMod val="75000"/>
                  </a:schemeClr>
                </a:solidFill>
              </a:rPr>
              <a:t>:</a:t>
            </a:r>
            <a:r>
              <a:rPr lang="en-US" sz="3200" b="1" dirty="0" smtClean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3200" b="1" dirty="0" smtClean="0">
                <a:solidFill>
                  <a:schemeClr val="tx1"/>
                </a:solidFill>
              </a:rPr>
              <a:t>Types of testing in SDLC are:</a:t>
            </a:r>
          </a:p>
          <a:p>
            <a:pPr marL="742950" indent="-742950">
              <a:buAutoNum type="arabicPeriod"/>
            </a:pPr>
            <a:r>
              <a:rPr lang="en-US" sz="3200" b="1" u="sng" dirty="0" smtClean="0">
                <a:solidFill>
                  <a:schemeClr val="accent5">
                    <a:lumMod val="75000"/>
                  </a:schemeClr>
                </a:solidFill>
                <a:sym typeface="Wingdings" panose="05000000000000000000" pitchFamily="2" charset="2"/>
              </a:rPr>
              <a:t>Functionality Testing</a:t>
            </a:r>
            <a:r>
              <a:rPr lang="en-US" sz="3200" b="1" dirty="0" smtClean="0">
                <a:solidFill>
                  <a:schemeClr val="tx1"/>
                </a:solidFill>
                <a:sym typeface="Wingdings" panose="05000000000000000000" pitchFamily="2" charset="2"/>
              </a:rPr>
              <a:t>: Checks whether a software works according to its defined  requirements and features. </a:t>
            </a:r>
          </a:p>
          <a:p>
            <a:pPr marL="742950" indent="-742950">
              <a:buAutoNum type="arabicPeriod"/>
            </a:pPr>
            <a:r>
              <a:rPr lang="en-US" sz="3200" b="1" u="sng" dirty="0" smtClean="0">
                <a:solidFill>
                  <a:schemeClr val="accent5">
                    <a:lumMod val="75000"/>
                  </a:schemeClr>
                </a:solidFill>
                <a:sym typeface="Wingdings" panose="05000000000000000000" pitchFamily="2" charset="2"/>
              </a:rPr>
              <a:t>Performance Testing </a:t>
            </a:r>
            <a:r>
              <a:rPr lang="en-US" sz="3200" b="1" dirty="0" smtClean="0">
                <a:solidFill>
                  <a:schemeClr val="tx1"/>
                </a:solidFill>
                <a:sym typeface="Wingdings" panose="05000000000000000000" pitchFamily="2" charset="2"/>
              </a:rPr>
              <a:t>: </a:t>
            </a:r>
            <a:r>
              <a:rPr lang="en-US" sz="3200" b="1" dirty="0">
                <a:solidFill>
                  <a:schemeClr val="tx1"/>
                </a:solidFill>
                <a:sym typeface="Wingdings" panose="05000000000000000000" pitchFamily="2" charset="2"/>
              </a:rPr>
              <a:t>Checks the working of software under the different </a:t>
            </a:r>
            <a:r>
              <a:rPr lang="en-US" sz="3200" b="1" dirty="0" smtClean="0">
                <a:solidFill>
                  <a:schemeClr val="tx1"/>
                </a:solidFill>
                <a:sym typeface="Wingdings" panose="05000000000000000000" pitchFamily="2" charset="2"/>
              </a:rPr>
              <a:t>conditions.</a:t>
            </a:r>
          </a:p>
          <a:p>
            <a:pPr marL="742950" indent="-742950">
              <a:buAutoNum type="arabicPeriod"/>
            </a:pPr>
            <a:r>
              <a:rPr lang="en-US" sz="3200" b="1" u="sng" dirty="0" smtClean="0">
                <a:solidFill>
                  <a:schemeClr val="accent5">
                    <a:lumMod val="75000"/>
                  </a:schemeClr>
                </a:solidFill>
                <a:sym typeface="Wingdings" panose="05000000000000000000" pitchFamily="2" charset="2"/>
              </a:rPr>
              <a:t>Compatibility Testing </a:t>
            </a:r>
            <a:r>
              <a:rPr lang="en-US" sz="3200" b="1" dirty="0" smtClean="0">
                <a:solidFill>
                  <a:schemeClr val="tx1"/>
                </a:solidFill>
                <a:sym typeface="Wingdings" panose="05000000000000000000" pitchFamily="2" charset="2"/>
              </a:rPr>
              <a:t>: Checks the working of software under the different devices.</a:t>
            </a:r>
            <a:endParaRPr lang="en-US" sz="3200" b="1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021443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8827</TotalTime>
  <Words>798</Words>
  <Application>Microsoft Office PowerPoint</Application>
  <PresentationFormat>Widescreen</PresentationFormat>
  <Paragraphs>110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Century Gothic</vt:lpstr>
      <vt:lpstr>Wingdings</vt:lpstr>
      <vt:lpstr>Wingdings 3</vt:lpstr>
      <vt:lpstr>Ion Boardroom</vt:lpstr>
      <vt:lpstr>COMPUTER SCIENCE </vt:lpstr>
      <vt:lpstr>Q.1: What is Software Development?</vt:lpstr>
      <vt:lpstr>Q.2: Why software development is  important?</vt:lpstr>
      <vt:lpstr>Q.3: Define Framework? Give an example</vt:lpstr>
      <vt:lpstr>Q.4: Write any four benefits of Framework.</vt:lpstr>
      <vt:lpstr>Q.5: What is SDLC?</vt:lpstr>
      <vt:lpstr>Q.6: What is the purpose of SDLC?</vt:lpstr>
      <vt:lpstr>Q.7: Name the phases of SDLC?</vt:lpstr>
      <vt:lpstr>Q.8: What is Requirement gathering?</vt:lpstr>
      <vt:lpstr>Q.9: How to collect Requirement?</vt:lpstr>
      <vt:lpstr>Q.10: How many types of Requirement?</vt:lpstr>
      <vt:lpstr>Q.11: Differentiate b/w Functional and Non-Functional Requirements?</vt:lpstr>
      <vt:lpstr>Q.12: What is a stakeholder?</vt:lpstr>
      <vt:lpstr>Q.13: Enlist some important stakeholders?</vt:lpstr>
      <vt:lpstr>Q.14:Explain the design phase in SDLC?</vt:lpstr>
      <vt:lpstr>Q.15:Explain the key activities in designing?</vt:lpstr>
      <vt:lpstr>Q.16:Explain the coding phase in SDLC?</vt:lpstr>
      <vt:lpstr>Q.17:Explain the Key Activities in coding?</vt:lpstr>
      <vt:lpstr>Q.18:Explain the Testing in SDLC?</vt:lpstr>
      <vt:lpstr>Q.19:Explain the types of Testing in SDLC?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ZAKARIYA HIGHER  SECONDARY SCHOOL LAYYAH</dc:title>
  <dc:creator>baryal laptop</dc:creator>
  <cp:lastModifiedBy>baryal laptop</cp:lastModifiedBy>
  <cp:revision>23</cp:revision>
  <dcterms:created xsi:type="dcterms:W3CDTF">2026-04-18T15:27:46Z</dcterms:created>
  <dcterms:modified xsi:type="dcterms:W3CDTF">2026-04-28T18:50:32Z</dcterms:modified>
</cp:coreProperties>
</file>